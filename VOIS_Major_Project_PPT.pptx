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0" autoAdjust="0"/>
    <p:restoredTop sz="95033" autoAdjust="0"/>
  </p:normalViewPr>
  <p:slideViewPr>
    <p:cSldViewPr snapToGrid="0">
      <p:cViewPr varScale="1">
        <p:scale>
          <a:sx n="78" d="100"/>
          <a:sy n="78" d="100"/>
        </p:scale>
        <p:origin x="739"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a sri" userId="14ae5cd96d9400ab" providerId="LiveId" clId="{F7438116-FC6A-4D2C-90F9-16C67555BFC1}"/>
    <pc:docChg chg="modSld">
      <pc:chgData name="gana sri" userId="14ae5cd96d9400ab" providerId="LiveId" clId="{F7438116-FC6A-4D2C-90F9-16C67555BFC1}" dt="2026-09-06T10:23:45.834" v="1" actId="1076"/>
      <pc:docMkLst>
        <pc:docMk/>
      </pc:docMkLst>
      <pc:sldChg chg="modSp mod">
        <pc:chgData name="gana sri" userId="14ae5cd96d9400ab" providerId="LiveId" clId="{F7438116-FC6A-4D2C-90F9-16C67555BFC1}" dt="2026-09-06T10:23:45.834" v="1" actId="1076"/>
        <pc:sldMkLst>
          <pc:docMk/>
          <pc:sldMk cId="3863610428" sldId="342"/>
        </pc:sldMkLst>
        <pc:spChg chg="mod">
          <ac:chgData name="gana sri" userId="14ae5cd96d9400ab" providerId="LiveId" clId="{F7438116-FC6A-4D2C-90F9-16C67555BFC1}" dt="2026-09-06T10:23:45.834" v="1" actId="1076"/>
          <ac:spMkLst>
            <pc:docMk/>
            <pc:sldMk cId="3863610428" sldId="342"/>
            <ac:spMk id="3" creationId="{5F0B37E4-66B1-8633-7266-68B32174275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07421" y="4305478"/>
            <a:ext cx="6738075" cy="743449"/>
          </a:xfrm>
        </p:spPr>
        <p:txBody>
          <a:bodyPr vert="horz" lIns="91440" tIns="45720" rIns="91440" bIns="45720" rtlCol="0" anchor="t">
            <a:noAutofit/>
          </a:bodyPr>
          <a:lstStyle/>
          <a:p>
            <a:pPr algn="r"/>
            <a:r>
              <a:rPr lang="en-US" sz="2400" b="0" dirty="0">
                <a:solidFill>
                  <a:schemeClr val="tx1"/>
                </a:solidFill>
                <a:latin typeface="Times New Roman" panose="02020603050405020304" pitchFamily="18" charset="0"/>
                <a:cs typeface="Times New Roman" panose="02020603050405020304" pitchFamily="18" charset="0"/>
              </a:rPr>
              <a:t>Student Name- Ganasri B    </a:t>
            </a:r>
            <a:endParaRPr lang="en-IN" sz="2400" b="0" dirty="0">
              <a:solidFill>
                <a:schemeClr val="tx1"/>
              </a:solidFill>
              <a:latin typeface="Times New Roman" panose="02020603050405020304" pitchFamily="18" charset="0"/>
              <a:cs typeface="Times New Roman" panose="02020603050405020304" pitchFamily="18" charset="0"/>
            </a:endParaRPr>
          </a:p>
          <a:p>
            <a:pPr algn="r"/>
            <a:r>
              <a:rPr lang="en-US" sz="2400" b="0" dirty="0">
                <a:solidFill>
                  <a:schemeClr val="tx1"/>
                </a:solidFill>
                <a:latin typeface="Times New Roman" panose="02020603050405020304" pitchFamily="18" charset="0"/>
                <a:cs typeface="Times New Roman" panose="02020603050405020304" pitchFamily="18" charset="0"/>
              </a:rPr>
              <a:t>College Name- EGS Pillay Engineering college</a:t>
            </a:r>
            <a:endParaRPr lang="en-IN" sz="24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13899" y="2494382"/>
            <a:ext cx="4998720" cy="743448"/>
          </a:xfrm>
        </p:spPr>
        <p:txBody>
          <a:bodyPr>
            <a:normAutofit/>
          </a:bodyPr>
          <a:lstStyle/>
          <a:p>
            <a:r>
              <a:rPr lang="en-GB" sz="3600" b="1" dirty="0">
                <a:latin typeface="Times New Roman" panose="02020603050405020304" pitchFamily="18" charset="0"/>
                <a:cs typeface="Times New Roman" panose="02020603050405020304" pitchFamily="18" charset="0"/>
              </a:rPr>
              <a:t>PROJECT TITLE -</a:t>
            </a:r>
            <a:endParaRPr lang="en-IN" sz="36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971858" y="5312781"/>
            <a:ext cx="5689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(STU681d7d7f84e0a1746763135)</a:t>
            </a:r>
          </a:p>
        </p:txBody>
      </p:sp>
      <p:sp>
        <p:nvSpPr>
          <p:cNvPr id="5" name="TextBox 4">
            <a:extLst>
              <a:ext uri="{FF2B5EF4-FFF2-40B4-BE49-F238E27FC236}">
                <a16:creationId xmlns:a16="http://schemas.microsoft.com/office/drawing/2014/main" id="{A1639411-CA5F-EBCF-87D4-BAF1B6B04DCF}"/>
              </a:ext>
            </a:extLst>
          </p:cNvPr>
          <p:cNvSpPr txBox="1"/>
          <p:nvPr/>
        </p:nvSpPr>
        <p:spPr>
          <a:xfrm>
            <a:off x="5824437" y="1690588"/>
            <a:ext cx="5689199" cy="2554545"/>
          </a:xfrm>
          <a:prstGeom prst="rect">
            <a:avLst/>
          </a:prstGeom>
          <a:noFill/>
        </p:spPr>
        <p:txBody>
          <a:bodyPr wrap="square" rtlCol="0">
            <a:spAutoFit/>
          </a:bodyPr>
          <a:lstStyle/>
          <a:p>
            <a:r>
              <a:rPr lang="en-IN" sz="4000" b="1" dirty="0">
                <a:solidFill>
                  <a:srgbClr val="00B0F0"/>
                </a:solidFill>
                <a:latin typeface="Times New Roman" panose="02020603050405020304" pitchFamily="18" charset="0"/>
                <a:cs typeface="Times New Roman" panose="02020603050405020304" pitchFamily="18" charset="0"/>
              </a:rPr>
              <a:t>SEASONAL AGRICULTURE PERFORMANCE ANALYSIS</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25370" y="1340528"/>
            <a:ext cx="8156514" cy="3607987"/>
          </a:xfrm>
        </p:spPr>
        <p:txBody>
          <a:bodyPr vert="horz" lIns="91440" tIns="45720" rIns="91440" bIns="45720" rtlCol="0" anchor="t">
            <a:noAutofit/>
          </a:bodyPr>
          <a:lstStyle/>
          <a:p>
            <a:pPr>
              <a:lnSpc>
                <a:spcPct val="100000"/>
              </a:lnSpc>
            </a:pPr>
            <a:r>
              <a:rPr lang="en-US" sz="2400" dirty="0">
                <a:solidFill>
                  <a:schemeClr val="tx1"/>
                </a:solidFill>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78386" y="588904"/>
            <a:ext cx="8060814" cy="830997"/>
          </a:xfrm>
        </p:spPr>
        <p:txBody>
          <a:bodyPr>
            <a:noAutofit/>
          </a:bodyPr>
          <a:lstStyle/>
          <a:p>
            <a:pPr lvl="0"/>
            <a:r>
              <a:rPr lang="en-GB" sz="2800" dirty="0">
                <a:latin typeface="Times New Roman" panose="02020603050405020304" pitchFamily="18" charset="0"/>
                <a:cs typeface="Times New Roman" panose="02020603050405020304" pitchFamily="18" charset="0"/>
              </a:rPr>
              <a:t>PROJECT DESCRIPTION</a:t>
            </a:r>
            <a:br>
              <a:rPr lang="en-GB" sz="1800" b="0" dirty="0">
                <a:latin typeface="Times New Roman" panose="02020603050405020304" pitchFamily="18" charset="0"/>
                <a:cs typeface="Times New Roman" panose="02020603050405020304" pitchFamily="18" charset="0"/>
              </a:rPr>
            </a:br>
            <a:br>
              <a:rPr lang="en-GB" sz="18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Overview: </a:t>
            </a:r>
            <a:r>
              <a:rPr lang="en-IN" sz="2000" b="0" dirty="0">
                <a:latin typeface="Times New Roman" panose="02020603050405020304" pitchFamily="18" charset="0"/>
                <a:cs typeface="Times New Roman" panose="02020603050405020304" pitchFamily="18" charset="0"/>
              </a:rPr>
              <a:t>EDA on 4,000 farm records to evaluate crop performance, operational costs, and profitability across Kharif, Rabi, and Zaid seasons. </a:t>
            </a: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Data Processing: </a:t>
            </a:r>
            <a:r>
              <a:rPr lang="en-IN" sz="2000" b="0" dirty="0">
                <a:latin typeface="Times New Roman" panose="02020603050405020304" pitchFamily="18" charset="0"/>
                <a:cs typeface="Times New Roman" panose="02020603050405020304" pitchFamily="18" charset="0"/>
              </a:rPr>
              <a:t>Cleaned dataset (imputed missing rainfall &amp; yield values) and calculated net profit using Python (Pandas, Seaborn). </a:t>
            </a: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Key Findings:</a:t>
            </a: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Kharif: </a:t>
            </a:r>
            <a:r>
              <a:rPr lang="en-IN" sz="2000" b="0" dirty="0">
                <a:latin typeface="Times New Roman" panose="02020603050405020304" pitchFamily="18" charset="0"/>
                <a:cs typeface="Times New Roman" panose="02020603050405020304" pitchFamily="18" charset="0"/>
              </a:rPr>
              <a:t>Most profitable season (Avg. Profit: ₹1,78,914) due to optimal monsoon rainfall. </a:t>
            </a: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Rabi: </a:t>
            </a:r>
            <a:r>
              <a:rPr lang="en-IN" sz="2000" b="0" dirty="0">
                <a:latin typeface="Times New Roman" panose="02020603050405020304" pitchFamily="18" charset="0"/>
                <a:cs typeface="Times New Roman" panose="02020603050405020304" pitchFamily="18" charset="0"/>
              </a:rPr>
              <a:t>Stable secondary harvest (Avg. Profit: ₹87,689) with moderate production. </a:t>
            </a: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Zaid: </a:t>
            </a:r>
            <a:r>
              <a:rPr lang="en-IN" sz="2000" b="0" dirty="0">
                <a:latin typeface="Times New Roman" panose="02020603050405020304" pitchFamily="18" charset="0"/>
                <a:cs typeface="Times New Roman" panose="02020603050405020304" pitchFamily="18" charset="0"/>
              </a:rPr>
              <a:t>Faces seasonal losses (Avg. Loss: -₹24,804) driven by extreme summer heat and heavy irrigation costs. </a:t>
            </a: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Outcome: </a:t>
            </a:r>
            <a:r>
              <a:rPr lang="en-IN" sz="2000" b="0" dirty="0">
                <a:latin typeface="Times New Roman" panose="02020603050405020304" pitchFamily="18" charset="0"/>
                <a:cs typeface="Times New Roman" panose="02020603050405020304" pitchFamily="18" charset="0"/>
              </a:rPr>
              <a:t>Delivers data-driven crop selection strategies to minimize off-season farm losses. </a:t>
            </a:r>
            <a:br>
              <a:rPr lang="en-IN" sz="2000" b="0" dirty="0">
                <a:latin typeface="Times New Roman" panose="02020603050405020304" pitchFamily="18" charset="0"/>
                <a:cs typeface="Times New Roman" panose="02020603050405020304" pitchFamily="18" charset="0"/>
              </a:rPr>
            </a:br>
            <a:br>
              <a:rPr lang="en-GB" sz="1800" b="0" dirty="0"/>
            </a:br>
            <a:endParaRPr lang="en-IN" sz="1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b="1" dirty="0">
                <a:solidFill>
                  <a:schemeClr val="tx1"/>
                </a:solidFill>
                <a:latin typeface="Times New Roman" panose="02020603050405020304" pitchFamily="18" charset="0"/>
                <a:cs typeface="Times New Roman" panose="02020603050405020304" pitchFamily="18" charset="0"/>
              </a:rPr>
              <a:t>Farmers &amp; Practitioners:</a:t>
            </a:r>
            <a:r>
              <a:rPr lang="en-IN" dirty="0">
                <a:solidFill>
                  <a:schemeClr val="tx1"/>
                </a:solidFill>
                <a:latin typeface="Times New Roman" panose="02020603050405020304" pitchFamily="18" charset="0"/>
                <a:cs typeface="Times New Roman" panose="02020603050405020304" pitchFamily="18" charset="0"/>
              </a:rPr>
              <a:t> To make data-driven seasonal crop and resource choices. </a:t>
            </a:r>
          </a:p>
          <a:p>
            <a:pPr lvl="0"/>
            <a:r>
              <a:rPr lang="en-IN" b="1" dirty="0">
                <a:solidFill>
                  <a:schemeClr val="tx1"/>
                </a:solidFill>
                <a:latin typeface="Times New Roman" panose="02020603050405020304" pitchFamily="18" charset="0"/>
                <a:cs typeface="Times New Roman" panose="02020603050405020304" pitchFamily="18" charset="0"/>
              </a:rPr>
              <a:t>Agricultural Planners &amp; Policy Makers:</a:t>
            </a:r>
            <a:r>
              <a:rPr lang="en-IN" dirty="0">
                <a:solidFill>
                  <a:schemeClr val="tx1"/>
                </a:solidFill>
                <a:latin typeface="Times New Roman" panose="02020603050405020304" pitchFamily="18" charset="0"/>
                <a:cs typeface="Times New Roman" panose="02020603050405020304" pitchFamily="18" charset="0"/>
              </a:rPr>
              <a:t> To optimize regional water allocation and subsidies. </a:t>
            </a:r>
          </a:p>
          <a:p>
            <a:pPr lvl="0"/>
            <a:r>
              <a:rPr lang="en-IN" b="1" dirty="0">
                <a:solidFill>
                  <a:schemeClr val="tx1"/>
                </a:solidFill>
                <a:latin typeface="Times New Roman" panose="02020603050405020304" pitchFamily="18" charset="0"/>
                <a:cs typeface="Times New Roman" panose="02020603050405020304" pitchFamily="18" charset="0"/>
              </a:rPr>
              <a:t>Researchers &amp; Analysts:</a:t>
            </a:r>
            <a:r>
              <a:rPr lang="en-IN" dirty="0">
                <a:solidFill>
                  <a:schemeClr val="tx1"/>
                </a:solidFill>
                <a:latin typeface="Times New Roman" panose="02020603050405020304" pitchFamily="18" charset="0"/>
                <a:cs typeface="Times New Roman" panose="02020603050405020304" pitchFamily="18" charset="0"/>
              </a:rPr>
              <a:t> To study climate impact on productivity. </a:t>
            </a:r>
          </a:p>
          <a:p>
            <a:pPr lvl="0"/>
            <a:r>
              <a:rPr lang="en-IN" b="1" dirty="0">
                <a:solidFill>
                  <a:schemeClr val="tx1"/>
                </a:solidFill>
                <a:latin typeface="Times New Roman" panose="02020603050405020304" pitchFamily="18" charset="0"/>
                <a:cs typeface="Times New Roman" panose="02020603050405020304" pitchFamily="18" charset="0"/>
              </a:rPr>
              <a:t>Government Stakeholders:</a:t>
            </a:r>
            <a:r>
              <a:rPr lang="en-IN" dirty="0">
                <a:solidFill>
                  <a:schemeClr val="tx1"/>
                </a:solidFill>
                <a:latin typeface="Times New Roman" panose="02020603050405020304" pitchFamily="18" charset="0"/>
                <a:cs typeface="Times New Roman" panose="02020603050405020304" pitchFamily="18" charset="0"/>
              </a:rPr>
              <a:t> For food security planning and crop insurance strategies. </a:t>
            </a:r>
          </a:p>
          <a:p>
            <a:pPr lvl="0"/>
            <a:r>
              <a:rPr lang="en-IN" b="1" dirty="0">
                <a:solidFill>
                  <a:schemeClr val="tx1"/>
                </a:solidFill>
                <a:latin typeface="Times New Roman" panose="02020603050405020304" pitchFamily="18" charset="0"/>
                <a:cs typeface="Times New Roman" panose="02020603050405020304" pitchFamily="18" charset="0"/>
              </a:rPr>
              <a:t>Students &amp; Educators:</a:t>
            </a:r>
            <a:r>
              <a:rPr lang="en-IN" dirty="0">
                <a:solidFill>
                  <a:schemeClr val="tx1"/>
                </a:solidFill>
                <a:latin typeface="Times New Roman" panose="02020603050405020304" pitchFamily="18" charset="0"/>
                <a:cs typeface="Times New Roman" panose="02020603050405020304" pitchFamily="18" charset="0"/>
              </a:rPr>
              <a:t> As an analytical benchmark for agricultural data analytics.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278384"/>
            <a:ext cx="9027702" cy="5243448"/>
          </a:xfrm>
        </p:spPr>
        <p:txBody>
          <a:bodyPr/>
          <a:lstStyle/>
          <a:p>
            <a:pPr lvl="0"/>
            <a:r>
              <a:rPr lang="en-IN" b="1" dirty="0">
                <a:solidFill>
                  <a:schemeClr val="tx1"/>
                </a:solidFill>
                <a:latin typeface="Times New Roman" panose="02020603050405020304" pitchFamily="18" charset="0"/>
                <a:cs typeface="Times New Roman" panose="02020603050405020304" pitchFamily="18" charset="0"/>
              </a:rPr>
              <a:t>Python:</a:t>
            </a:r>
            <a:r>
              <a:rPr lang="en-IN" dirty="0">
                <a:solidFill>
                  <a:schemeClr val="tx1"/>
                </a:solidFill>
                <a:latin typeface="Times New Roman" panose="02020603050405020304" pitchFamily="18" charset="0"/>
                <a:cs typeface="Times New Roman" panose="02020603050405020304" pitchFamily="18" charset="0"/>
              </a:rPr>
              <a:t> Primary programming language for data manipulation and statistical </a:t>
            </a:r>
            <a:r>
              <a:rPr lang="en-IN" dirty="0" err="1">
                <a:solidFill>
                  <a:schemeClr val="tx1"/>
                </a:solidFill>
                <a:latin typeface="Times New Roman" panose="02020603050405020304" pitchFamily="18" charset="0"/>
                <a:cs typeface="Times New Roman" panose="02020603050405020304" pitchFamily="18" charset="0"/>
              </a:rPr>
              <a:t>modeling</a:t>
            </a:r>
            <a:r>
              <a:rPr lang="en-IN" dirty="0">
                <a:solidFill>
                  <a:schemeClr val="tx1"/>
                </a:solidFill>
                <a:latin typeface="Times New Roman" panose="02020603050405020304" pitchFamily="18" charset="0"/>
                <a:cs typeface="Times New Roman" panose="02020603050405020304" pitchFamily="18" charset="0"/>
              </a:rPr>
              <a:t>. </a:t>
            </a:r>
          </a:p>
          <a:p>
            <a:pPr lvl="0"/>
            <a:r>
              <a:rPr lang="en-IN" b="1" dirty="0">
                <a:solidFill>
                  <a:schemeClr val="tx1"/>
                </a:solidFill>
                <a:latin typeface="Times New Roman" panose="02020603050405020304" pitchFamily="18" charset="0"/>
                <a:cs typeface="Times New Roman" panose="02020603050405020304" pitchFamily="18" charset="0"/>
              </a:rPr>
              <a:t>Pandas &amp; NumPy:</a:t>
            </a:r>
            <a:r>
              <a:rPr lang="en-IN" dirty="0">
                <a:solidFill>
                  <a:schemeClr val="tx1"/>
                </a:solidFill>
                <a:latin typeface="Times New Roman" panose="02020603050405020304" pitchFamily="18" charset="0"/>
                <a:cs typeface="Times New Roman" panose="02020603050405020304" pitchFamily="18" charset="0"/>
              </a:rPr>
              <a:t> For data cleaning, feature engineering, missing value imputation, and seasonal aggregations. </a:t>
            </a:r>
          </a:p>
          <a:p>
            <a:pPr lvl="0"/>
            <a:r>
              <a:rPr lang="en-IN" b="1" dirty="0">
                <a:solidFill>
                  <a:schemeClr val="tx1"/>
                </a:solidFill>
                <a:latin typeface="Times New Roman" panose="02020603050405020304" pitchFamily="18" charset="0"/>
                <a:cs typeface="Times New Roman" panose="02020603050405020304" pitchFamily="18" charset="0"/>
              </a:rPr>
              <a:t>Matplotlib &amp; Seaborn:</a:t>
            </a:r>
            <a:r>
              <a:rPr lang="en-IN" dirty="0">
                <a:solidFill>
                  <a:schemeClr val="tx1"/>
                </a:solidFill>
                <a:latin typeface="Times New Roman" panose="02020603050405020304" pitchFamily="18" charset="0"/>
                <a:cs typeface="Times New Roman" panose="02020603050405020304" pitchFamily="18" charset="0"/>
              </a:rPr>
              <a:t> For generating analytical charts, heatmaps, and distribution plots. </a:t>
            </a:r>
          </a:p>
          <a:p>
            <a:pPr lvl="0"/>
            <a:r>
              <a:rPr lang="en-IN" b="1" dirty="0">
                <a:solidFill>
                  <a:schemeClr val="tx1"/>
                </a:solidFill>
                <a:latin typeface="Times New Roman" panose="02020603050405020304" pitchFamily="18" charset="0"/>
                <a:cs typeface="Times New Roman" panose="02020603050405020304" pitchFamily="18" charset="0"/>
              </a:rPr>
              <a:t>Jupyter Notebook:</a:t>
            </a:r>
            <a:r>
              <a:rPr lang="en-IN" dirty="0">
                <a:solidFill>
                  <a:schemeClr val="tx1"/>
                </a:solidFill>
                <a:latin typeface="Times New Roman" panose="02020603050405020304" pitchFamily="18" charset="0"/>
                <a:cs typeface="Times New Roman" panose="02020603050405020304" pitchFamily="18" charset="0"/>
              </a:rPr>
              <a:t> Development environment used to document the end-to-end data pipeline.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484FE83-6EBD-D123-9888-5C1E6B788D54}"/>
              </a:ext>
            </a:extLst>
          </p:cNvPr>
          <p:cNvSpPr txBox="1"/>
          <p:nvPr/>
        </p:nvSpPr>
        <p:spPr>
          <a:xfrm>
            <a:off x="747674" y="1585923"/>
            <a:ext cx="7779785" cy="2477601"/>
          </a:xfrm>
          <a:prstGeom prst="rect">
            <a:avLst/>
          </a:prstGeom>
          <a:noFill/>
        </p:spPr>
        <p:txBody>
          <a:bodyPr wrap="square">
            <a:spAutoFit/>
          </a:bodyPr>
          <a:lstStyle/>
          <a:p>
            <a:pPr>
              <a:spcAft>
                <a:spcPts val="600"/>
              </a:spcAft>
              <a:defRPr sz="1700" b="0"/>
            </a:pPr>
            <a:r>
              <a:rPr lang="en-US" sz="2800" dirty="0">
                <a:latin typeface="Times New Roman" panose="02020603050405020304" pitchFamily="18" charset="0"/>
                <a:cs typeface="Times New Roman" panose="02020603050405020304" pitchFamily="18" charset="0"/>
              </a:rPr>
              <a:t>Dataset Understanding &amp; Preparation</a:t>
            </a:r>
          </a:p>
          <a:p>
            <a:pPr>
              <a:spcAft>
                <a:spcPts val="600"/>
              </a:spcAft>
              <a:defRPr sz="1700" b="0"/>
            </a:pPr>
            <a:r>
              <a:rPr lang="en-US" sz="2800" dirty="0">
                <a:latin typeface="Times New Roman" panose="02020603050405020304" pitchFamily="18" charset="0"/>
                <a:cs typeface="Times New Roman" panose="02020603050405020304" pitchFamily="18" charset="0"/>
              </a:rPr>
              <a:t>• Explored agricultural activities across seasons</a:t>
            </a:r>
          </a:p>
          <a:p>
            <a:pPr>
              <a:spcAft>
                <a:spcPts val="600"/>
              </a:spcAft>
              <a:defRPr sz="1700" b="0"/>
            </a:pPr>
            <a:r>
              <a:rPr lang="en-US" sz="2800" dirty="0">
                <a:latin typeface="Times New Roman" panose="02020603050405020304" pitchFamily="18" charset="0"/>
                <a:cs typeface="Times New Roman" panose="02020603050405020304" pitchFamily="18" charset="0"/>
              </a:rPr>
              <a:t>• Identified relevant environmental, production, resource and economic variables</a:t>
            </a:r>
          </a:p>
          <a:p>
            <a:pPr>
              <a:spcAft>
                <a:spcPts val="600"/>
              </a:spcAft>
              <a:defRPr sz="1700" b="0"/>
            </a:pPr>
            <a:r>
              <a:rPr lang="en-US" sz="2800" dirty="0">
                <a:latin typeface="Times New Roman" panose="02020603050405020304" pitchFamily="18" charset="0"/>
                <a:cs typeface="Times New Roman" panose="02020603050405020304" pitchFamily="18" charset="0"/>
              </a:rPr>
              <a:t>• Cleaned and prepared data for analysis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5" name="TextBox 14">
            <a:extLst>
              <a:ext uri="{FF2B5EF4-FFF2-40B4-BE49-F238E27FC236}">
                <a16:creationId xmlns:a16="http://schemas.microsoft.com/office/drawing/2014/main" id="{EBFEB54F-61F6-98CF-B105-E9BE84848607}"/>
              </a:ext>
            </a:extLst>
          </p:cNvPr>
          <p:cNvSpPr txBox="1"/>
          <p:nvPr/>
        </p:nvSpPr>
        <p:spPr>
          <a:xfrm>
            <a:off x="630959" y="1090835"/>
            <a:ext cx="6053281" cy="1461939"/>
          </a:xfrm>
          <a:prstGeom prst="rect">
            <a:avLst/>
          </a:prstGeom>
          <a:noFill/>
        </p:spPr>
        <p:txBody>
          <a:bodyPr wrap="square" rtlCol="0">
            <a:spAutoFit/>
          </a:bodyPr>
          <a:lstStyle/>
          <a:p>
            <a:pPr>
              <a:spcAft>
                <a:spcPts val="600"/>
              </a:spcAft>
              <a:defRPr sz="1700" b="0"/>
            </a:pPr>
            <a:r>
              <a:rPr lang="en-US" sz="2400" dirty="0"/>
              <a:t>Seasonal Performance Analysis</a:t>
            </a:r>
          </a:p>
          <a:p>
            <a:endParaRPr lang="en-IN" sz="6000" dirty="0"/>
          </a:p>
        </p:txBody>
      </p:sp>
      <p:pic>
        <p:nvPicPr>
          <p:cNvPr id="17" name="Picture 16">
            <a:extLst>
              <a:ext uri="{FF2B5EF4-FFF2-40B4-BE49-F238E27FC236}">
                <a16:creationId xmlns:a16="http://schemas.microsoft.com/office/drawing/2014/main" id="{5FFA42D3-407E-DE07-4AD2-D4AF8868837C}"/>
              </a:ext>
            </a:extLst>
          </p:cNvPr>
          <p:cNvPicPr>
            <a:picLocks noChangeAspect="1"/>
          </p:cNvPicPr>
          <p:nvPr/>
        </p:nvPicPr>
        <p:blipFill>
          <a:blip r:embed="rId3"/>
          <a:stretch>
            <a:fillRect/>
          </a:stretch>
        </p:blipFill>
        <p:spPr>
          <a:xfrm>
            <a:off x="1468562" y="1608410"/>
            <a:ext cx="7744264" cy="511121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41EA85A4-CAA9-4D22-461E-4EC96DD03F9F}"/>
              </a:ext>
            </a:extLst>
          </p:cNvPr>
          <p:cNvPicPr>
            <a:picLocks noChangeAspect="1"/>
          </p:cNvPicPr>
          <p:nvPr/>
        </p:nvPicPr>
        <p:blipFill>
          <a:blip r:embed="rId3"/>
          <a:stretch>
            <a:fillRect/>
          </a:stretch>
        </p:blipFill>
        <p:spPr>
          <a:xfrm>
            <a:off x="934532" y="3559885"/>
            <a:ext cx="4378836" cy="2713334"/>
          </a:xfrm>
          <a:prstGeom prst="rect">
            <a:avLst/>
          </a:prstGeom>
        </p:spPr>
      </p:pic>
      <p:pic>
        <p:nvPicPr>
          <p:cNvPr id="14" name="Picture 13">
            <a:extLst>
              <a:ext uri="{FF2B5EF4-FFF2-40B4-BE49-F238E27FC236}">
                <a16:creationId xmlns:a16="http://schemas.microsoft.com/office/drawing/2014/main" id="{899A1434-AD3A-19D4-7B87-B3870FFF782C}"/>
              </a:ext>
            </a:extLst>
          </p:cNvPr>
          <p:cNvPicPr>
            <a:picLocks noChangeAspect="1"/>
          </p:cNvPicPr>
          <p:nvPr/>
        </p:nvPicPr>
        <p:blipFill>
          <a:blip r:embed="rId4"/>
          <a:stretch>
            <a:fillRect/>
          </a:stretch>
        </p:blipFill>
        <p:spPr>
          <a:xfrm>
            <a:off x="6017474" y="3559885"/>
            <a:ext cx="4556953" cy="2643459"/>
          </a:xfrm>
          <a:prstGeom prst="rect">
            <a:avLst/>
          </a:prstGeom>
        </p:spPr>
      </p:pic>
      <p:pic>
        <p:nvPicPr>
          <p:cNvPr id="16" name="Picture 15">
            <a:extLst>
              <a:ext uri="{FF2B5EF4-FFF2-40B4-BE49-F238E27FC236}">
                <a16:creationId xmlns:a16="http://schemas.microsoft.com/office/drawing/2014/main" id="{DF3A577D-BE6C-4D90-3760-0717BAF962A1}"/>
              </a:ext>
            </a:extLst>
          </p:cNvPr>
          <p:cNvPicPr>
            <a:picLocks noChangeAspect="1"/>
          </p:cNvPicPr>
          <p:nvPr/>
        </p:nvPicPr>
        <p:blipFill>
          <a:blip r:embed="rId5"/>
          <a:stretch>
            <a:fillRect/>
          </a:stretch>
        </p:blipFill>
        <p:spPr>
          <a:xfrm>
            <a:off x="1085818" y="1290609"/>
            <a:ext cx="4345537" cy="2176212"/>
          </a:xfrm>
          <a:prstGeom prst="rect">
            <a:avLst/>
          </a:prstGeom>
        </p:spPr>
      </p:pic>
      <p:pic>
        <p:nvPicPr>
          <p:cNvPr id="18" name="Picture 17">
            <a:extLst>
              <a:ext uri="{FF2B5EF4-FFF2-40B4-BE49-F238E27FC236}">
                <a16:creationId xmlns:a16="http://schemas.microsoft.com/office/drawing/2014/main" id="{F4ADF15E-D514-1404-6EAE-5D02F37EB4F5}"/>
              </a:ext>
            </a:extLst>
          </p:cNvPr>
          <p:cNvPicPr>
            <a:picLocks noChangeAspect="1"/>
          </p:cNvPicPr>
          <p:nvPr/>
        </p:nvPicPr>
        <p:blipFill>
          <a:blip r:embed="rId6"/>
          <a:stretch>
            <a:fillRect/>
          </a:stretch>
        </p:blipFill>
        <p:spPr>
          <a:xfrm>
            <a:off x="5953731" y="1248649"/>
            <a:ext cx="4556953" cy="221817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8A71C1E-A742-0C45-BE71-095692435F8A}"/>
              </a:ext>
            </a:extLst>
          </p:cNvPr>
          <p:cNvPicPr>
            <a:picLocks noChangeAspect="1"/>
          </p:cNvPicPr>
          <p:nvPr/>
        </p:nvPicPr>
        <p:blipFill>
          <a:blip r:embed="rId3"/>
          <a:stretch>
            <a:fillRect/>
          </a:stretch>
        </p:blipFill>
        <p:spPr>
          <a:xfrm>
            <a:off x="771559" y="1128252"/>
            <a:ext cx="5009809" cy="2360315"/>
          </a:xfrm>
          <a:prstGeom prst="rect">
            <a:avLst/>
          </a:prstGeom>
        </p:spPr>
      </p:pic>
      <p:pic>
        <p:nvPicPr>
          <p:cNvPr id="12" name="Picture 11">
            <a:extLst>
              <a:ext uri="{FF2B5EF4-FFF2-40B4-BE49-F238E27FC236}">
                <a16:creationId xmlns:a16="http://schemas.microsoft.com/office/drawing/2014/main" id="{86803113-C361-1356-6E97-540D6B73146C}"/>
              </a:ext>
            </a:extLst>
          </p:cNvPr>
          <p:cNvPicPr>
            <a:picLocks noChangeAspect="1"/>
          </p:cNvPicPr>
          <p:nvPr/>
        </p:nvPicPr>
        <p:blipFill>
          <a:blip r:embed="rId4"/>
          <a:stretch>
            <a:fillRect/>
          </a:stretch>
        </p:blipFill>
        <p:spPr>
          <a:xfrm>
            <a:off x="6096000" y="2183269"/>
            <a:ext cx="4911613" cy="364980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32F5B6B1-2F20-4AA1-0B2E-462A773AA724}"/>
              </a:ext>
            </a:extLst>
          </p:cNvPr>
          <p:cNvPicPr>
            <a:picLocks noChangeAspect="1"/>
          </p:cNvPicPr>
          <p:nvPr/>
        </p:nvPicPr>
        <p:blipFill>
          <a:blip r:embed="rId3"/>
          <a:stretch>
            <a:fillRect/>
          </a:stretch>
        </p:blipFill>
        <p:spPr>
          <a:xfrm>
            <a:off x="1451139" y="1201586"/>
            <a:ext cx="9020215" cy="524551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4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33294D1-67B4-85D7-5825-5AE65602E49B}"/>
              </a:ext>
            </a:extLst>
          </p:cNvPr>
          <p:cNvSpPr txBox="1"/>
          <p:nvPr/>
        </p:nvSpPr>
        <p:spPr>
          <a:xfrm>
            <a:off x="914401" y="1608410"/>
            <a:ext cx="7266039" cy="3323987"/>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Extend analysis across larger, multi-year historical datasets to model climate change impacts. </a:t>
            </a: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Integrate real-time satellite imagery and daily weather time-series data. </a:t>
            </a: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Develop Machine Learning predictive models (e.g., Random Forest/</a:t>
            </a:r>
            <a:r>
              <a:rPr lang="en-IN" sz="2400" dirty="0" err="1">
                <a:effectLst/>
                <a:latin typeface="Times New Roman" panose="02020603050405020304" pitchFamily="18" charset="0"/>
                <a:cs typeface="Times New Roman" panose="02020603050405020304" pitchFamily="18" charset="0"/>
              </a:rPr>
              <a:t>XGBoost</a:t>
            </a:r>
            <a:r>
              <a:rPr lang="en-IN" sz="2400" dirty="0">
                <a:effectLst/>
                <a:latin typeface="Times New Roman" panose="02020603050405020304" pitchFamily="18" charset="0"/>
                <a:cs typeface="Times New Roman" panose="02020603050405020304" pitchFamily="18" charset="0"/>
              </a:rPr>
              <a:t>) for crop yield estimation. </a:t>
            </a: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Build interactive </a:t>
            </a:r>
            <a:r>
              <a:rPr lang="en-IN" sz="2400" dirty="0" err="1">
                <a:effectLst/>
                <a:latin typeface="Times New Roman" panose="02020603050405020304" pitchFamily="18" charset="0"/>
                <a:cs typeface="Times New Roman" panose="02020603050405020304" pitchFamily="18" charset="0"/>
              </a:rPr>
              <a:t>Streamlit</a:t>
            </a:r>
            <a:r>
              <a:rPr lang="en-IN" sz="2400" dirty="0">
                <a:effectLst/>
                <a:latin typeface="Times New Roman" panose="02020603050405020304" pitchFamily="18" charset="0"/>
                <a:cs typeface="Times New Roman" panose="02020603050405020304" pitchFamily="18" charset="0"/>
              </a:rPr>
              <a:t>/Dash web application dashboards for agricultural stakeholders. </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063553" y="2774324"/>
            <a:ext cx="8444241"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https://github.com/ganasri-b/seasonal_agriculture_performance.git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2B607B9-0946-BD92-C2B5-CEB05C2E7BD5}"/>
              </a:ext>
            </a:extLst>
          </p:cNvPr>
          <p:cNvPicPr>
            <a:picLocks noChangeAspect="1"/>
          </p:cNvPicPr>
          <p:nvPr/>
        </p:nvPicPr>
        <p:blipFill>
          <a:blip r:embed="rId3"/>
          <a:stretch>
            <a:fillRect/>
          </a:stretch>
        </p:blipFill>
        <p:spPr>
          <a:xfrm>
            <a:off x="1261651" y="1324139"/>
            <a:ext cx="7765694" cy="534082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079351"/>
            <a:ext cx="11340000" cy="1699706"/>
          </a:xfrm>
          <a:prstGeom prst="rect">
            <a:avLst/>
          </a:prstGeom>
        </p:spPr>
        <p:txBody>
          <a:bodyPr anchor="ctr">
            <a:noAutofit/>
          </a:bodyPr>
          <a:lstStyle/>
          <a:p>
            <a:pPr algn="ctr"/>
            <a:r>
              <a:rPr lang="en-US" sz="7200" b="1" dirty="0">
                <a:solidFill>
                  <a:schemeClr val="tx1"/>
                </a:solidFill>
                <a:latin typeface="Times New Roman" panose="02020603050405020304" pitchFamily="18" charset="0"/>
                <a:cs typeface="Times New Roman" panose="02020603050405020304" pitchFamily="18" charset="0"/>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1445</TotalTime>
  <Words>510</Words>
  <Application>Microsoft Office PowerPoint</Application>
  <PresentationFormat>Widescreen</PresentationFormat>
  <Paragraphs>40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vt:lpstr>
      <vt:lpstr>PROBLEM  STATEMENT</vt:lpstr>
      <vt:lpstr>PROJECT DESCRIPTION  Overview: EDA on 4,000 farm records to evaluate crop performance, operational costs, and profitability across Kharif, Rabi, and Zaid seasons.  Data Processing: Cleaned dataset (imputed missing rainfall &amp; yield values) and calculated net profit using Python (Pandas, Seaborn).  Key Findings: Kharif: Most profitable season (Avg. Profit: ₹1,78,914) due to optimal monsoon rainfall.  Rabi: Stable secondary harvest (Avg. Profit: ₹87,689) with moderate production.  Zaid: Faces seasonal losses (Avg. Loss: -₹24,804) driven by extreme summer heat and heavy irrigation costs.  Outcome: Delivers data-driven crop selection strategies to minimize off-season farm losses.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gana sri</cp:lastModifiedBy>
  <cp:revision>99</cp:revision>
  <dcterms:created xsi:type="dcterms:W3CDTF">2021-07-11T13:13:15Z</dcterms:created>
  <dcterms:modified xsi:type="dcterms:W3CDTF">2026-09-06T10:23:47Z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